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gla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167" y="914400"/>
            <a:ext cx="4023360" cy="12245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514600"/>
            <a:ext cx="121916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 i="0">
                <a:solidFill>
                  <a:srgbClr val="1A1A1A"/>
                </a:solidFill>
                <a:latin typeface="Calibri"/>
              </a:rPr>
              <a:t>Deck Title Goes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One-line subtitle — what this talk is about, in twelve words or fewer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262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Speaker Name — RadixArk · SGLang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888888"/>
                </a:solidFill>
                <a:latin typeface="Calibri"/>
              </a:rPr>
              <a:t>Venue · Month DD, YYYY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50" b="0" i="0">
                <a:solidFill>
                  <a:srgbClr val="888888"/>
                </a:solidFill>
                <a:latin typeface="Calibri"/>
              </a:rPr>
              <a:t>github.com/sgl-project/sglang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128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 spc="300">
                <a:solidFill>
                  <a:srgbClr val="C0492C"/>
                </a:solidFill>
                <a:latin typeface="Calibri"/>
              </a:rPr>
              <a:t>PATTERN · STAT 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Claim in the title — numbers as the evidence below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260901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C0492C"/>
                </a:solidFill>
                <a:latin typeface="Calibri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6090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first metric, small caption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2243" y="1325880"/>
            <a:ext cx="260901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C0492C"/>
                </a:solidFill>
                <a:latin typeface="Calibri"/>
              </a:rPr>
              <a:t>1.8×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2243" y="1965960"/>
            <a:ext cx="26090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second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1325880"/>
            <a:ext cx="260901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C0492C"/>
                </a:solidFill>
                <a:latin typeface="Calibri"/>
              </a:rPr>
              <a:t>99 %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1965960"/>
            <a:ext cx="26090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third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451" y="1325880"/>
            <a:ext cx="260901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C0492C"/>
                </a:solidFill>
                <a:latin typeface="Calibr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451" y="1965960"/>
            <a:ext cx="260901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fourth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1094415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1450" indent="-171450">
              <a:spcAft>
                <a:spcPts val="1000"/>
              </a:spcAft>
              <a:buFont typeface="Arial"/>
              <a:buChar char="•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Bold lead — </a:t>
            </a:r>
            <a:r>
              <a:rPr sz="1350" b="0" i="0">
                <a:solidFill>
                  <a:srgbClr val="555555"/>
                </a:solidFill>
                <a:latin typeface="Calibri"/>
              </a:rPr>
              <a:t>one line of gray explanation; keep it under two lines on screen</a:t>
            </a:r>
          </a:p>
          <a:p>
            <a:pPr algn="l" marL="171450" indent="-171450">
              <a:spcAft>
                <a:spcPts val="1000"/>
              </a:spcAft>
              <a:buFont typeface="Arial"/>
              <a:buChar char="•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Noun phrase — </a:t>
            </a:r>
            <a:r>
              <a:rPr sz="1350" b="0" i="0">
                <a:solidFill>
                  <a:srgbClr val="555555"/>
                </a:solidFill>
                <a:latin typeface="Calibri"/>
              </a:rPr>
              <a:t>the lead names a thing, the rest says why it matters</a:t>
            </a:r>
          </a:p>
          <a:p>
            <a:pPr algn="l" marL="171450" indent="-171450">
              <a:spcAft>
                <a:spcPts val="1000"/>
              </a:spcAft>
              <a:buFont typeface="Arial"/>
              <a:buChar char="•"/>
            </a:pPr>
            <a:r>
              <a:rPr sz="1350" b="1" i="0">
                <a:solidFill>
                  <a:srgbClr val="1A1A1A"/>
                </a:solidFill>
                <a:latin typeface="Calibri"/>
              </a:rPr>
              <a:t>Restraint — </a:t>
            </a:r>
            <a:r>
              <a:rPr sz="1350" b="0" i="0">
                <a:solidFill>
                  <a:srgbClr val="555555"/>
                </a:solidFill>
                <a:latin typeface="Calibri"/>
              </a:rPr>
              <a:t>three to five bullets per slide, never more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C0492C"/>
                </a:solidFill>
                <a:latin typeface="Calibri"/>
              </a:rPr>
              <a:t>One punchline per slide — alone, bold, accent.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128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 spc="300">
                <a:solidFill>
                  <a:srgbClr val="C0492C"/>
                </a:solidFill>
                <a:latin typeface="Calibri"/>
              </a:rPr>
              <a:t>PATTERN · 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Two columns compared, row labels bold, ours in accent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1672" cy="283464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{5C22544A-7EE6-4342-B048-85BDC9FD1C3A}</a:tableStyleId>
              </a:tblPr>
              <a:tblGrid>
                <a:gridCol w="2011680"/>
                <a:gridCol w="4480560"/>
                <a:gridCol w="459943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Their approach</a:t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492C"/>
                          </a:solidFill>
                          <a:latin typeface="Calibri"/>
                        </a:rPr>
                        <a:t>Our approach</a:t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Dimension one</a:t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placeholder description</a:t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placeholder description</a:t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Dimension two</a:t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placeholder description</a:t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placeholder description</a:t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Dimension three</a:t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placeholder description</a:t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placeholder description</a:t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Dimension four</a:t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placeholder description</a:t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placeholder description</a:t>
                      </a:r>
                    </a:p>
                  </a:txBody>
                  <a:tcPr anchor="ctr" marL="54864" marR="54864" marT="18288" marB="18288"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6634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 i="1">
                <a:solidFill>
                  <a:srgbClr val="888888"/>
                </a:solidFill>
                <a:latin typeface="Calibri"/>
              </a:rPr>
              <a:t>Header row gets the PANEL fill; keep cells to one line each; add a fifth column only if you must.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C0492C"/>
                </a:solidFill>
                <a:latin typeface="Calibri"/>
              </a:rPr>
              <a:t>Bottom takeaway — one sentence, accent, bold.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128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 spc="300">
                <a:solidFill>
                  <a:srgbClr val="C0492C"/>
                </a:solidFill>
                <a:latin typeface="Calibri"/>
              </a:rPr>
              <a:t>PATTERN · CARDS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One card per item — highlight at most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20440" cy="1691640"/>
          </a:xfrm>
          <a:prstGeom prst="roundRect">
            <a:avLst>
              <a:gd name="adj" fmla="val 3783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9344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Card title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55555"/>
                </a:solidFill>
                <a:latin typeface="Calibri"/>
              </a:rPr>
              <a:t>one detail line — versions, scope, or a single property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5" y="1463040"/>
            <a:ext cx="3520440" cy="1691640"/>
          </a:xfrm>
          <a:prstGeom prst="roundRect">
            <a:avLst>
              <a:gd name="adj" fmla="val 3783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1609344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Card title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55555"/>
                </a:solidFill>
                <a:latin typeface="Calibri"/>
              </a:rPr>
              <a:t>one detail 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1" y="1463040"/>
            <a:ext cx="3520440" cy="1691640"/>
          </a:xfrm>
          <a:prstGeom prst="roundRect">
            <a:avLst>
              <a:gd name="adj" fmla="val 3783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1" y="1609344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Card title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55555"/>
                </a:solidFill>
                <a:latin typeface="Calibri"/>
              </a:rPr>
              <a:t>one detail 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3520440" cy="1691640"/>
          </a:xfrm>
          <a:prstGeom prst="roundRect">
            <a:avLst>
              <a:gd name="adj" fmla="val 3783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29584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Card title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55555"/>
                </a:solidFill>
                <a:latin typeface="Calibri"/>
              </a:rPr>
              <a:t>one detail 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5" y="3383280"/>
            <a:ext cx="3520440" cy="1691640"/>
          </a:xfrm>
          <a:prstGeom prst="roundRect">
            <a:avLst>
              <a:gd name="adj" fmla="val 3783"/>
            </a:avLst>
          </a:prstGeom>
          <a:solidFill>
            <a:srgbClr val="FBEFEA"/>
          </a:solidFill>
          <a:ln w="12700">
            <a:solidFill>
              <a:srgbClr val="C0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3529584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492C"/>
                </a:solidFill>
                <a:latin typeface="Calibri"/>
              </a:rPr>
              <a:t>Highlighted card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55555"/>
                </a:solidFill>
                <a:latin typeface="Calibri"/>
              </a:rPr>
              <a:t>the ONE card that deserves the accent outline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1" y="3383280"/>
            <a:ext cx="3520440" cy="1691640"/>
          </a:xfrm>
          <a:prstGeom prst="roundRect">
            <a:avLst>
              <a:gd name="adj" fmla="val 3783"/>
            </a:avLst>
          </a:prstGeom>
          <a:solidFill>
            <a:srgbClr val="F5F5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1" y="3529584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Card title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55555"/>
                </a:solidFill>
                <a:latin typeface="Calibri"/>
              </a:rPr>
              <a:t>one detail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One summary line under the grid — or leave the space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128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 spc="300">
                <a:solidFill>
                  <a:srgbClr val="C0492C"/>
                </a:solidFill>
                <a:latin typeface="Calibri"/>
              </a:rPr>
              <a:t>PATTERN · TWO-PANEL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A taxonomy with exactly two sides — cool left, warm right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40680" cy="3977639"/>
          </a:xfrm>
          <a:prstGeom prst="roundRect">
            <a:avLst>
              <a:gd name="adj" fmla="val 1609"/>
            </a:avLst>
          </a:prstGeom>
          <a:solidFill>
            <a:srgbClr val="EAF3F0"/>
          </a:solidFill>
          <a:ln w="12700">
            <a:solidFill>
              <a:srgbClr val="EAF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1417320"/>
            <a:ext cx="5440680" cy="3977639"/>
          </a:xfrm>
          <a:prstGeom prst="roundRect">
            <a:avLst>
              <a:gd name="adj" fmla="val 1609"/>
            </a:avLst>
          </a:prstGeom>
          <a:solidFill>
            <a:srgbClr val="FBEFEA"/>
          </a:solidFill>
          <a:ln w="12700">
            <a:solidFill>
              <a:srgbClr val="FBE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916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2A7A6A"/>
                </a:solidFill>
                <a:latin typeface="Calibri"/>
              </a:rPr>
              <a:t>CATEGORY A — its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6916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1" i="0">
                <a:solidFill>
                  <a:srgbClr val="C0492C"/>
                </a:solidFill>
                <a:latin typeface="Calibri"/>
              </a:rPr>
              <a:t>CATEGORY B — its 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40280"/>
            <a:ext cx="49377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1450" indent="-171450">
              <a:spcAft>
                <a:spcPts val="7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member one</a:t>
            </a:r>
          </a:p>
          <a:p>
            <a:pPr algn="l" marL="171450" indent="-171450">
              <a:spcAft>
                <a:spcPts val="7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member two</a:t>
            </a:r>
          </a:p>
          <a:p>
            <a:pPr algn="l" marL="171450" indent="-171450">
              <a:spcAft>
                <a:spcPts val="7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member three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40280"/>
            <a:ext cx="49377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1450" indent="-171450">
              <a:spcAft>
                <a:spcPts val="7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member one</a:t>
            </a:r>
          </a:p>
          <a:p>
            <a:pPr algn="l" marL="171450" indent="-171450">
              <a:spcAft>
                <a:spcPts val="7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member two</a:t>
            </a:r>
          </a:p>
          <a:p>
            <a:pPr algn="l" marL="171450" indent="-171450">
              <a:spcAft>
                <a:spcPts val="7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member three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C0492C"/>
                </a:solidFill>
                <a:latin typeface="Calibri"/>
              </a:rPr>
              <a:t>The rule that connects the two panels — centered and bold.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128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 spc="300">
                <a:solidFill>
                  <a:srgbClr val="C0492C"/>
                </a:solidFill>
                <a:latin typeface="Calibri"/>
              </a:rPr>
              <a:t>PATTERN ·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Bullets left, schematic right — one accent element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71450" indent="-171450">
              <a:spcAft>
                <a:spcPts val="1000"/>
              </a:spcAft>
              <a:buFont typeface="Arial"/>
              <a:buChar char="•"/>
            </a:pPr>
            <a:r>
              <a:rPr sz="1250" b="1" i="0">
                <a:solidFill>
                  <a:srgbClr val="1A1A1A"/>
                </a:solidFill>
                <a:latin typeface="Calibri"/>
              </a:rPr>
              <a:t>What the boxes are — </a:t>
            </a:r>
            <a:r>
              <a:rPr sz="1250" b="0" i="0">
                <a:solidFill>
                  <a:srgbClr val="555555"/>
                </a:solidFill>
                <a:latin typeface="Calibri"/>
              </a:rPr>
              <a:t>explain the diagram in words, left of it</a:t>
            </a:r>
          </a:p>
          <a:p>
            <a:pPr algn="l" marL="171450" indent="-171450">
              <a:spcAft>
                <a:spcPts val="1000"/>
              </a:spcAft>
              <a:buFont typeface="Arial"/>
              <a:buChar char="•"/>
            </a:pPr>
            <a:r>
              <a:rPr sz="1250" b="1" i="0">
                <a:solidFill>
                  <a:srgbClr val="1A1A1A"/>
                </a:solidFill>
                <a:latin typeface="Calibri"/>
              </a:rPr>
              <a:t>The accent rule — </a:t>
            </a:r>
            <a:r>
              <a:rPr sz="1250" b="0" i="0">
                <a:solidFill>
                  <a:srgbClr val="555555"/>
                </a:solidFill>
                <a:latin typeface="Calibri"/>
              </a:rPr>
              <a:t>exactly one element gets ACC: the thing the eye must land on</a:t>
            </a:r>
          </a:p>
          <a:p>
            <a:pPr algn="l" marL="171450" indent="-171450">
              <a:spcAft>
                <a:spcPts val="1000"/>
              </a:spcAft>
              <a:buFont typeface="Arial"/>
              <a:buChar char="•"/>
            </a:pPr>
            <a:r>
              <a:rPr sz="1250" b="1" i="0">
                <a:solidFill>
                  <a:srgbClr val="1A1A1A"/>
                </a:solidFill>
                <a:latin typeface="Calibri"/>
              </a:rPr>
              <a:t>Placeholders — </a:t>
            </a:r>
            <a:r>
              <a:rPr sz="1250" b="0" i="0">
                <a:solidFill>
                  <a:srgbClr val="555555"/>
                </a:solidFill>
                <a:latin typeface="Calibri"/>
              </a:rPr>
              <a:t>dashed border + italic gray = 'not filled in yet', visible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C0492C"/>
                </a:solidFill>
                <a:latin typeface="Calibri"/>
              </a:rPr>
              <a:t>Punchline about the diagram.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737360"/>
            <a:ext cx="1371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input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92440" y="2011680"/>
            <a:ext cx="320040" cy="0"/>
          </a:xfrm>
          <a:prstGeom prst="line">
            <a:avLst/>
          </a:prstGeom>
          <a:ln w="19050">
            <a:solidFill>
              <a:srgbClr val="8888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458200" y="1737360"/>
            <a:ext cx="15544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4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7373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C0492C"/>
                </a:solidFill>
                <a:latin typeface="Calibri"/>
              </a:rPr>
              <a:t>core step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0" y="2011680"/>
            <a:ext cx="320040" cy="0"/>
          </a:xfrm>
          <a:prstGeom prst="line">
            <a:avLst/>
          </a:prstGeom>
          <a:ln w="19050">
            <a:solidFill>
              <a:srgbClr val="8888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424159" y="1737360"/>
            <a:ext cx="11887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9" y="1737360"/>
            <a:ext cx="1188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output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2331720"/>
            <a:ext cx="0" cy="502920"/>
          </a:xfrm>
          <a:prstGeom prst="line">
            <a:avLst/>
          </a:prstGeom>
          <a:ln w="15875">
            <a:solidFill>
              <a:srgbClr val="8888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778240" y="2880360"/>
            <a:ext cx="914400" cy="50292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2880360"/>
            <a:ext cx="914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7360920" y="2331720"/>
            <a:ext cx="1371600" cy="731520"/>
          </a:xfrm>
          <a:prstGeom prst="line">
            <a:avLst/>
          </a:prstGeom>
          <a:ln w="15875">
            <a:solidFill>
              <a:srgbClr val="88888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49440" y="32918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0" i="1">
                <a:solidFill>
                  <a:srgbClr val="888888"/>
                </a:solidFill>
                <a:latin typeface="Calibri"/>
              </a:rPr>
              <a:t>feedback path — dashed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977639"/>
            <a:ext cx="493776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977639"/>
            <a:ext cx="49377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1">
                <a:solidFill>
                  <a:srgbClr val="888888"/>
                </a:solidFill>
                <a:latin typeface="Calibri"/>
              </a:rPr>
              <a:t>screenshot / render — drop 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1288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 i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 spc="300">
                <a:solidFill>
                  <a:srgbClr val="C0492C"/>
                </a:solidFill>
                <a:latin typeface="Calibri"/>
              </a:rPr>
              <a:t>PATTERN ·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1A1A1A"/>
                </a:solidFill>
                <a:latin typeface="Calibri"/>
              </a:rPr>
              <a:t>Close — QR left, code right, thanks centered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WHERE TO GO NEXT</a:t>
            </a:r>
          </a:p>
        </p:txBody>
      </p:sp>
      <p:pic>
        <p:nvPicPr>
          <p:cNvPr id="6" name="Picture 5" descr="tmpl5ago5f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1965960" cy="1965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395935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50" b="0" i="0">
                <a:solidFill>
                  <a:srgbClr val="888888"/>
                </a:solidFill>
                <a:latin typeface="Calibri"/>
              </a:rPr>
              <a:t>github.com/sgl-project/sglang</a:t>
            </a:r>
          </a:p>
        </p:txBody>
      </p:sp>
      <p:pic>
        <p:nvPicPr>
          <p:cNvPr id="8" name="Picture 7" descr="carbon-snipp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554480"/>
            <a:ext cx="4005072" cy="27885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3886200"/>
            <a:ext cx="40050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repo → path/to/entrypoint
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55555"/>
                </a:solidFill>
                <a:latin typeface="Calibri"/>
              </a:rPr>
              <a:t>credits · acknowledgements ·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Thank you — Speaker Name · RadixArk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RadixArk deck template — pattern specimens</dc:title>
  <dc:subject/>
  <dc:creator>RadixArk · SGLang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